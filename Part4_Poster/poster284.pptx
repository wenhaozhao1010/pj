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32918400" cy="24688800"/>
  <p:notesSz cx="32099250" cy="43748325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ctr" rtl="0" fontAlgn="base">
      <a:spcBef>
        <a:spcPct val="0"/>
      </a:spcBef>
      <a:spcAft>
        <a:spcPct val="0"/>
      </a:spcAft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0574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24003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2743200" algn="l" defTabSz="685800" rtl="0" eaLnBrk="1" latinLnBrk="0" hangingPunct="1">
      <a:defRPr sz="645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57" userDrawn="1">
          <p15:clr>
            <a:srgbClr val="A4A3A4"/>
          </p15:clr>
        </p15:guide>
        <p15:guide id="2" orient="horz" pos="15147" userDrawn="1">
          <p15:clr>
            <a:srgbClr val="A4A3A4"/>
          </p15:clr>
        </p15:guide>
        <p15:guide id="3" orient="horz" pos="1611" userDrawn="1">
          <p15:clr>
            <a:srgbClr val="A4A3A4"/>
          </p15:clr>
        </p15:guide>
        <p15:guide id="4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64"/>
    <a:srgbClr val="EAEAEA"/>
    <a:srgbClr val="C0C0C0"/>
    <a:srgbClr val="0046D2"/>
    <a:srgbClr val="FF0000"/>
    <a:srgbClr val="698ED9"/>
    <a:srgbClr val="A7C4FF"/>
    <a:srgbClr val="003399"/>
    <a:srgbClr val="002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877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5" y="-1398"/>
      </p:cViewPr>
      <p:guideLst>
        <p:guide orient="horz" pos="3657"/>
        <p:guide orient="horz" pos="15147"/>
        <p:guide orient="horz" pos="1611"/>
        <p:guide pos="10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t" anchorCtr="0" compatLnSpc="1"/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8181987" y="2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t" anchorCtr="0" compatLnSpc="1"/>
          <a:lstStyle>
            <a:lvl1pPr algn="r">
              <a:defRPr sz="5700"/>
            </a:lvl1pPr>
          </a:lstStyle>
          <a:p>
            <a:endParaRPr 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113338" y="3276600"/>
            <a:ext cx="21880512" cy="16409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209927" y="20784215"/>
            <a:ext cx="25679400" cy="1968674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41553394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b" anchorCtr="0" compatLnSpc="1"/>
          <a:lstStyle>
            <a:lvl1pPr algn="l">
              <a:defRPr sz="5700"/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8181987" y="41553394"/>
            <a:ext cx="13909677" cy="21874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434706" tIns="217353" rIns="434706" bIns="217353" numCol="1" anchor="b" anchorCtr="0" compatLnSpc="1"/>
          <a:lstStyle>
            <a:lvl1pPr algn="r">
              <a:defRPr sz="5700"/>
            </a:lvl1pPr>
          </a:lstStyle>
          <a:p>
            <a:fld id="{7FB84CA5-7362-492D-8EBC-472296314F28}" type="slidenum">
              <a:rPr lang="en-US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3429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6858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0287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371600" algn="l" rtl="0" fontAlgn="base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904D40FB-8398-4C90-906C-C9755161D6CD}" type="slidenum">
              <a:rPr lang="en-US"/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wmf"/><Relationship Id="rId2" Type="http://schemas.openxmlformats.org/officeDocument/2006/relationships/hyperlink" Target="http://www.megaprint.com/" TargetMode="Externa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727"/>
          <a:stretch>
            <a:fillRect/>
          </a:stretch>
        </p:blipFill>
        <p:spPr bwMode="auto">
          <a:xfrm>
            <a:off x="26871335" y="24296727"/>
            <a:ext cx="3106340" cy="15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 userDrawn="1"/>
        </p:nvSpPr>
        <p:spPr>
          <a:xfrm>
            <a:off x="29923586" y="24231601"/>
            <a:ext cx="18305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www.postersession.com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-33771" y="24612540"/>
            <a:ext cx="409086" cy="1154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sz="150" b="1" dirty="0">
                <a:solidFill>
                  <a:srgbClr val="003064"/>
                </a:solidFill>
              </a:rPr>
              <a:t>www.postersession.com</a:t>
            </a:r>
            <a:endParaRPr lang="en-US" sz="150" b="1" dirty="0">
              <a:solidFill>
                <a:srgbClr val="00306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+mj-lt"/>
          <a:ea typeface="+mj-ea"/>
          <a:cs typeface="+mj-cs"/>
        </a:defRPr>
      </a:lvl1pPr>
      <a:lvl2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2pPr>
      <a:lvl3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3pPr>
      <a:lvl4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4pPr>
      <a:lvl5pPr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5pPr>
      <a:lvl6pPr marL="3429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6pPr>
      <a:lvl7pPr marL="6858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7pPr>
      <a:lvl8pPr marL="10287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8pPr>
      <a:lvl9pPr marL="1371600" algn="ctr" defTabSz="3291840" rtl="0" fontAlgn="base">
        <a:spcBef>
          <a:spcPct val="0"/>
        </a:spcBef>
        <a:spcAft>
          <a:spcPct val="0"/>
        </a:spcAft>
        <a:defRPr sz="15825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1234440" indent="-1234440" algn="l" defTabSz="3291840" rtl="0" fontAlgn="base">
        <a:spcBef>
          <a:spcPct val="20000"/>
        </a:spcBef>
        <a:spcAft>
          <a:spcPct val="0"/>
        </a:spcAft>
        <a:buChar char="•"/>
        <a:defRPr sz="11550">
          <a:solidFill>
            <a:schemeClr val="tx1"/>
          </a:solidFill>
          <a:latin typeface="+mn-lt"/>
          <a:ea typeface="+mn-ea"/>
          <a:cs typeface="+mn-cs"/>
        </a:defRPr>
      </a:lvl1pPr>
      <a:lvl2pPr marL="2673985" indent="-1028700" algn="l" defTabSz="3291840" rtl="0" fontAlgn="base">
        <a:spcBef>
          <a:spcPct val="20000"/>
        </a:spcBef>
        <a:spcAft>
          <a:spcPct val="0"/>
        </a:spcAft>
        <a:buChar char="–"/>
        <a:defRPr sz="10050">
          <a:solidFill>
            <a:schemeClr val="tx1"/>
          </a:solidFill>
          <a:latin typeface="+mn-lt"/>
        </a:defRPr>
      </a:lvl2pPr>
      <a:lvl3pPr marL="4114800" indent="-822960" algn="l" defTabSz="3291840" rtl="0" fontAlgn="base">
        <a:spcBef>
          <a:spcPct val="20000"/>
        </a:spcBef>
        <a:spcAft>
          <a:spcPct val="0"/>
        </a:spcAft>
        <a:buChar char="•"/>
        <a:defRPr sz="8625">
          <a:solidFill>
            <a:schemeClr val="tx1"/>
          </a:solidFill>
          <a:latin typeface="+mn-lt"/>
        </a:defRPr>
      </a:lvl3pPr>
      <a:lvl4pPr marL="5760085" indent="-822960" algn="l" defTabSz="3291840" rtl="0" fontAlgn="base">
        <a:spcBef>
          <a:spcPct val="20000"/>
        </a:spcBef>
        <a:spcAft>
          <a:spcPct val="0"/>
        </a:spcAft>
        <a:buChar char="–"/>
        <a:defRPr sz="7200">
          <a:solidFill>
            <a:schemeClr val="tx1"/>
          </a:solidFill>
          <a:latin typeface="+mn-lt"/>
        </a:defRPr>
      </a:lvl4pPr>
      <a:lvl5pPr marL="74066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5pPr>
      <a:lvl6pPr marL="77495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6pPr>
      <a:lvl7pPr marL="80924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7pPr>
      <a:lvl8pPr marL="84353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8pPr>
      <a:lvl9pPr marL="8778240" indent="-822960" algn="l" defTabSz="3291840" rtl="0" fontAlgn="base">
        <a:spcBef>
          <a:spcPct val="20000"/>
        </a:spcBef>
        <a:spcAft>
          <a:spcPct val="0"/>
        </a:spcAft>
        <a:buChar char="»"/>
        <a:defRPr sz="7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30"/>
          <p:cNvSpPr>
            <a:spLocks noChangeArrowheads="1"/>
          </p:cNvSpPr>
          <p:nvPr/>
        </p:nvSpPr>
        <p:spPr bwMode="auto">
          <a:xfrm>
            <a:off x="22860388" y="4572000"/>
            <a:ext cx="9600812" cy="19831049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4840" dirty="0"/>
          </a:p>
        </p:txBody>
      </p:sp>
      <p:sp>
        <p:nvSpPr>
          <p:cNvPr id="21" name="AutoShape 29"/>
          <p:cNvSpPr>
            <a:spLocks noChangeArrowheads="1"/>
          </p:cNvSpPr>
          <p:nvPr/>
        </p:nvSpPr>
        <p:spPr bwMode="auto">
          <a:xfrm>
            <a:off x="12134470" y="4644868"/>
            <a:ext cx="9877258" cy="19831049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4840" dirty="0"/>
          </a:p>
        </p:txBody>
      </p:sp>
      <p:sp>
        <p:nvSpPr>
          <p:cNvPr id="23" name="AutoShape 4"/>
          <p:cNvSpPr>
            <a:spLocks noChangeArrowheads="1"/>
          </p:cNvSpPr>
          <p:nvPr/>
        </p:nvSpPr>
        <p:spPr bwMode="auto">
          <a:xfrm>
            <a:off x="457198" y="4644868"/>
            <a:ext cx="10717510" cy="1983105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endParaRPr lang="en-US" sz="4840" dirty="0"/>
          </a:p>
        </p:txBody>
      </p:sp>
      <p:sp>
        <p:nvSpPr>
          <p:cNvPr id="2061" name="AutoShape 13"/>
          <p:cNvSpPr>
            <a:spLocks noChangeArrowheads="1"/>
          </p:cNvSpPr>
          <p:nvPr/>
        </p:nvSpPr>
        <p:spPr bwMode="auto">
          <a:xfrm>
            <a:off x="514350" y="285750"/>
            <a:ext cx="31889700" cy="3943350"/>
          </a:xfrm>
          <a:prstGeom prst="roundRect">
            <a:avLst>
              <a:gd name="adj" fmla="val 10870"/>
            </a:avLst>
          </a:prstGeom>
          <a:gradFill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w="9525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 defTabSz="3291840"/>
            <a:endParaRPr lang="en-US" sz="4840">
              <a:solidFill>
                <a:schemeClr val="bg1"/>
              </a:solidFill>
            </a:endParaRP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914400" y="742950"/>
            <a:ext cx="30689550" cy="290848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altLang="zh-CN" dirty="0"/>
              <a:t>SIMD and Weight-Output reconfigurable 2D systolic array-based AI accelerator and mapping </a:t>
            </a:r>
            <a:r>
              <a:rPr lang="en-US" altLang="zh-CN" dirty="0" err="1"/>
              <a:t>onCyclone</a:t>
            </a:r>
            <a:r>
              <a:rPr lang="en-US" altLang="zh-CN" dirty="0"/>
              <a:t> IV GX</a:t>
            </a:r>
            <a:endParaRPr lang="en-US" altLang="zh-CN" dirty="0"/>
          </a:p>
          <a:p>
            <a:pPr defTabSz="3291840">
              <a:spcBef>
                <a:spcPct val="50000"/>
              </a:spcBef>
            </a:pPr>
            <a:r>
              <a:rPr lang="en-US" sz="3600" b="1" i="1" dirty="0"/>
              <a:t>XYZ Group: </a:t>
            </a:r>
            <a:r>
              <a:rPr lang="en-US" sz="3600" b="1" i="1" dirty="0" err="1"/>
              <a:t>Changli</a:t>
            </a:r>
            <a:r>
              <a:rPr lang="en-US" sz="3600" b="1" i="1" dirty="0"/>
              <a:t> Liu, Jiabao Xu, Wenhao Zhao, Xinqi Li, Zijian Li</a:t>
            </a:r>
            <a:endParaRPr lang="en-US" sz="484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179" y="1736379"/>
            <a:ext cx="2478265" cy="249272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2956" y="1787576"/>
            <a:ext cx="2478265" cy="2492721"/>
          </a:xfrm>
          <a:prstGeom prst="rect">
            <a:avLst/>
          </a:prstGeom>
        </p:spPr>
      </p:pic>
      <p:sp>
        <p:nvSpPr>
          <p:cNvPr id="7" name="Text Box 42"/>
          <p:cNvSpPr txBox="1">
            <a:spLocks noChangeArrowheads="1"/>
          </p:cNvSpPr>
          <p:nvPr/>
        </p:nvSpPr>
        <p:spPr bwMode="auto">
          <a:xfrm>
            <a:off x="1899964" y="5304824"/>
            <a:ext cx="7372350" cy="836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 err="1"/>
              <a:t>VGGNet</a:t>
            </a:r>
            <a:endParaRPr lang="en-US" sz="4840" b="1" dirty="0"/>
          </a:p>
        </p:txBody>
      </p:sp>
      <p:sp>
        <p:nvSpPr>
          <p:cNvPr id="10" name="Text Box 42"/>
          <p:cNvSpPr txBox="1">
            <a:spLocks noChangeArrowheads="1"/>
          </p:cNvSpPr>
          <p:nvPr/>
        </p:nvSpPr>
        <p:spPr bwMode="auto">
          <a:xfrm>
            <a:off x="2114155" y="9247466"/>
            <a:ext cx="7372350" cy="836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altLang="zh-CN" sz="4840" b="1" dirty="0"/>
              <a:t>FPGA synth</a:t>
            </a:r>
            <a:endParaRPr lang="en-US" sz="484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86" y="6381880"/>
            <a:ext cx="10107454" cy="2625314"/>
          </a:xfrm>
          <a:prstGeom prst="rect">
            <a:avLst/>
          </a:prstGeom>
        </p:spPr>
      </p:pic>
      <p:sp>
        <p:nvSpPr>
          <p:cNvPr id="19" name="Text Box 42"/>
          <p:cNvSpPr txBox="1">
            <a:spLocks noChangeArrowheads="1"/>
          </p:cNvSpPr>
          <p:nvPr/>
        </p:nvSpPr>
        <p:spPr bwMode="auto">
          <a:xfrm>
            <a:off x="12937627" y="4945484"/>
            <a:ext cx="737235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Alpha2&amp;3: Gating PE</a:t>
            </a:r>
            <a:endParaRPr lang="en-US" sz="4840" b="1" dirty="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5290" y="8021320"/>
            <a:ext cx="5265420" cy="3799205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0356" y="12143143"/>
            <a:ext cx="8765485" cy="1379268"/>
          </a:xfrm>
          <a:prstGeom prst="rect">
            <a:avLst/>
          </a:prstGeom>
        </p:spPr>
      </p:pic>
      <p:sp>
        <p:nvSpPr>
          <p:cNvPr id="33" name="Text Box 42"/>
          <p:cNvSpPr txBox="1">
            <a:spLocks noChangeArrowheads="1"/>
          </p:cNvSpPr>
          <p:nvPr/>
        </p:nvSpPr>
        <p:spPr bwMode="auto">
          <a:xfrm>
            <a:off x="23975197" y="4969610"/>
            <a:ext cx="737235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Alpha4: Part2-tiling</a:t>
            </a:r>
            <a:endParaRPr lang="en-US" sz="4840" b="1" dirty="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2673" y="10324210"/>
            <a:ext cx="6839607" cy="5093707"/>
          </a:xfrm>
          <a:prstGeom prst="rect">
            <a:avLst/>
          </a:prstGeom>
        </p:spPr>
      </p:pic>
      <p:sp>
        <p:nvSpPr>
          <p:cNvPr id="36" name="Text Box 40"/>
          <p:cNvSpPr txBox="1">
            <a:spLocks noChangeArrowheads="1"/>
          </p:cNvSpPr>
          <p:nvPr/>
        </p:nvSpPr>
        <p:spPr bwMode="auto">
          <a:xfrm>
            <a:off x="23418495" y="5814185"/>
            <a:ext cx="8412186" cy="1201256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sz="3200" dirty="0">
                <a:latin typeface="Times New Roman" panose="02020603050405020304" pitchFamily="18" charset="0"/>
              </a:rPr>
              <a:t>We perform the tiling for 16*16 and verify all the output channel </a:t>
            </a:r>
            <a:endParaRPr lang="en-US" sz="3200" b="1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2" name="Text Box 40"/>
          <p:cNvSpPr txBox="1">
            <a:spLocks noChangeArrowheads="1"/>
          </p:cNvSpPr>
          <p:nvPr/>
        </p:nvSpPr>
        <p:spPr bwMode="auto">
          <a:xfrm>
            <a:off x="12810185" y="5610985"/>
            <a:ext cx="8412186" cy="260223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sz="3200" dirty="0">
                <a:latin typeface="Times New Roman" panose="02020603050405020304" pitchFamily="18" charset="0"/>
              </a:rPr>
              <a:t>We perform 2 types of gating PE</a:t>
            </a:r>
            <a:endParaRPr lang="en-US" sz="3200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First gates the MAC operation by skipping the multiplier–adder entirely and directly forwarding the partial sum whenever the control signal indicates that the computation should be bypassed.</a:t>
            </a:r>
            <a:r>
              <a:rPr lang="en-US" sz="3200" dirty="0">
                <a:latin typeface="Times New Roman" panose="02020603050405020304" pitchFamily="18" charset="0"/>
              </a:rPr>
              <a:t>   </a:t>
            </a:r>
            <a:endParaRPr lang="en-US" sz="3200" b="1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endParaRPr lang="en-US" sz="1500" dirty="0">
              <a:latin typeface="Times New Roman" panose="02020603050405020304" pitchFamily="18" charset="0"/>
            </a:endParaRPr>
          </a:p>
        </p:txBody>
      </p:sp>
      <p:sp>
        <p:nvSpPr>
          <p:cNvPr id="9" name="Text Box 40"/>
          <p:cNvSpPr txBox="1">
            <a:spLocks noChangeArrowheads="1"/>
          </p:cNvSpPr>
          <p:nvPr/>
        </p:nvSpPr>
        <p:spPr bwMode="auto">
          <a:xfrm>
            <a:off x="12937185" y="13588490"/>
            <a:ext cx="8412186" cy="260223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Second gates the MAC operation by zeroing out the operands through input multiplexers based on the mac_enable signal, so that the multiplier–adder datapath still operates but performs only effective computations.</a:t>
            </a:r>
            <a:endParaRPr lang="en-US" sz="3200" b="1" dirty="0">
              <a:latin typeface="Times New Roman" panose="02020603050405020304" pitchFamily="18" charset="0"/>
            </a:endParaRPr>
          </a:p>
          <a:p>
            <a:pPr algn="l" defTabSz="459740" eaLnBrk="0" hangingPunct="0">
              <a:lnSpc>
                <a:spcPct val="95000"/>
              </a:lnSpc>
            </a:pPr>
            <a:endParaRPr lang="en-US" sz="1500" dirty="0">
              <a:latin typeface="Times New Roman" panose="02020603050405020304" pitchFamily="18" charset="0"/>
            </a:endParaRPr>
          </a:p>
        </p:txBody>
      </p:sp>
      <p:pic>
        <p:nvPicPr>
          <p:cNvPr id="11" name="图片 10" descr="part4_data_gat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7165" y="16190595"/>
            <a:ext cx="5941695" cy="4286250"/>
          </a:xfrm>
          <a:prstGeom prst="rect">
            <a:avLst/>
          </a:prstGeom>
        </p:spPr>
      </p:pic>
      <p:sp>
        <p:nvSpPr>
          <p:cNvPr id="12" name="Text Box 40"/>
          <p:cNvSpPr txBox="1">
            <a:spLocks noChangeArrowheads="1"/>
          </p:cNvSpPr>
          <p:nvPr/>
        </p:nvSpPr>
        <p:spPr bwMode="auto">
          <a:xfrm>
            <a:off x="12937185" y="20715730"/>
            <a:ext cx="8412186" cy="98044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We evaluate the dynamic power consumption in comparison to the weight-stationary baseline.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pic>
        <p:nvPicPr>
          <p:cNvPr id="13" name="图片 12" descr="repo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74700" y="21934805"/>
            <a:ext cx="7207885" cy="1364615"/>
          </a:xfrm>
          <a:prstGeom prst="rect">
            <a:avLst/>
          </a:prstGeom>
        </p:spPr>
      </p:pic>
      <p:sp>
        <p:nvSpPr>
          <p:cNvPr id="15" name="Text Box 42"/>
          <p:cNvSpPr txBox="1">
            <a:spLocks noChangeArrowheads="1"/>
          </p:cNvSpPr>
          <p:nvPr/>
        </p:nvSpPr>
        <p:spPr bwMode="auto">
          <a:xfrm>
            <a:off x="2166757" y="15680794"/>
            <a:ext cx="7372350" cy="1579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Alpha1: Resnet20-QuantAwareTraining</a:t>
            </a:r>
            <a:endParaRPr lang="en-US" sz="4840" b="1" dirty="0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0995" y="18708370"/>
            <a:ext cx="5410200" cy="1171575"/>
          </a:xfrm>
          <a:prstGeom prst="rect">
            <a:avLst/>
          </a:prstGeom>
        </p:spPr>
      </p:pic>
      <p:sp>
        <p:nvSpPr>
          <p:cNvPr id="17" name="Text Box 40"/>
          <p:cNvSpPr txBox="1">
            <a:spLocks noChangeArrowheads="1"/>
          </p:cNvSpPr>
          <p:nvPr/>
        </p:nvSpPr>
        <p:spPr bwMode="auto">
          <a:xfrm>
            <a:off x="914400" y="17130395"/>
            <a:ext cx="10100310" cy="1447800"/>
          </a:xfrm>
          <a:prstGeom prst="rect">
            <a:avLst/>
          </a:prstGeom>
          <a:noFill/>
          <a:ln w="57150" cmpd="thinThick">
            <a:noFill/>
            <a:miter lim="800000"/>
          </a:ln>
          <a:effectLst/>
        </p:spPr>
        <p:txBody>
          <a:bodyPr wrap="square" lIns="45878" tIns="22938" rIns="45878" bIns="22938">
            <a:spAutoFit/>
          </a:bodyPr>
          <a:lstStyle/>
          <a:p>
            <a:pPr algn="l" defTabSz="459740" eaLnBrk="0" hangingPunct="0">
              <a:lnSpc>
                <a:spcPct val="95000"/>
              </a:lnSpc>
            </a:pPr>
            <a:r>
              <a:rPr lang="en-US" altLang="zh-CN" sz="3200" dirty="0">
                <a:latin typeface="Times New Roman" panose="02020603050405020304" pitchFamily="18" charset="0"/>
              </a:rPr>
              <a:t>We reconstructed Layer 2 to include a specialized "Squeeze-Target-Expand" sequence, featuring a central 8-channel convolution without Batch Normalization</a:t>
            </a:r>
            <a:endParaRPr lang="en-US" altLang="zh-CN" sz="3200" dirty="0">
              <a:latin typeface="Times New Roman" panose="02020603050405020304" pitchFamily="18" charset="0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99920" y="20140295"/>
            <a:ext cx="7672705" cy="253428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28220" y="6848475"/>
            <a:ext cx="4703445" cy="3170555"/>
          </a:xfrm>
          <a:prstGeom prst="rect">
            <a:avLst/>
          </a:prstGeom>
        </p:spPr>
      </p:pic>
      <p:sp>
        <p:nvSpPr>
          <p:cNvPr id="25" name="Text Box 42"/>
          <p:cNvSpPr txBox="1">
            <a:spLocks noChangeArrowheads="1"/>
          </p:cNvSpPr>
          <p:nvPr/>
        </p:nvSpPr>
        <p:spPr bwMode="auto">
          <a:xfrm>
            <a:off x="22866985" y="18300065"/>
            <a:ext cx="9653270" cy="15798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Alpha7&amp;8: Huffman encoding&amp;decoder</a:t>
            </a:r>
            <a:endParaRPr lang="en-US" sz="4840" b="1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813125" y="20515580"/>
            <a:ext cx="3415665" cy="2896235"/>
          </a:xfrm>
          <a:prstGeom prst="rect">
            <a:avLst/>
          </a:prstGeom>
        </p:spPr>
      </p:pic>
      <p:sp>
        <p:nvSpPr>
          <p:cNvPr id="28" name="Text Box 42"/>
          <p:cNvSpPr txBox="1">
            <a:spLocks noChangeArrowheads="1"/>
          </p:cNvSpPr>
          <p:nvPr/>
        </p:nvSpPr>
        <p:spPr bwMode="auto">
          <a:xfrm>
            <a:off x="23418575" y="10064160"/>
            <a:ext cx="807847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defTabSz="3291840">
              <a:spcBef>
                <a:spcPct val="50000"/>
              </a:spcBef>
            </a:pPr>
            <a:r>
              <a:rPr lang="en-US" sz="4840" b="1" dirty="0"/>
              <a:t>Alpha5: Pruning</a:t>
            </a:r>
            <a:endParaRPr lang="en-US" sz="484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3797714" y="10882312"/>
            <a:ext cx="7699556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</a:rPr>
              <a:t>We take two strategies based on unstructured pruning: one-shot and gradual pruning.</a:t>
            </a:r>
            <a:endParaRPr lang="en-US" sz="3200" dirty="0">
              <a:latin typeface="Times New Roman" panose="02020603050405020304" pitchFamily="18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7895" y="11820525"/>
            <a:ext cx="7130415" cy="3068955"/>
          </a:xfrm>
          <a:prstGeom prst="rect">
            <a:avLst/>
          </a:prstGeom>
        </p:spPr>
      </p:pic>
      <p:sp>
        <p:nvSpPr>
          <p:cNvPr id="5" name="Text Box 42"/>
          <p:cNvSpPr txBox="1">
            <a:spLocks noChangeArrowheads="1"/>
          </p:cNvSpPr>
          <p:nvPr/>
        </p:nvSpPr>
        <p:spPr bwMode="auto">
          <a:xfrm>
            <a:off x="22971125" y="14849475"/>
            <a:ext cx="9017000" cy="8356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defTabSz="3291840">
              <a:spcBef>
                <a:spcPct val="50000"/>
              </a:spcBef>
            </a:pPr>
            <a:r>
              <a:rPr lang="en-US" sz="4840" b="1" dirty="0"/>
              <a:t>Alpha6: </a:t>
            </a:r>
            <a:r>
              <a:rPr lang="en-US" altLang="zh-CN" sz="4840" b="1" dirty="0"/>
              <a:t>Testbench dual core</a:t>
            </a:r>
            <a:endParaRPr lang="en-US" altLang="zh-CN" sz="4840" b="1" dirty="0"/>
          </a:p>
        </p:txBody>
      </p:sp>
      <p:pic>
        <p:nvPicPr>
          <p:cNvPr id="6" name="图片 5" descr="d651d2f807df67a14d02624222cd06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5343485" y="15810230"/>
            <a:ext cx="4229100" cy="254762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011640" y="19879945"/>
            <a:ext cx="6801485" cy="42532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2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FFFFFF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438975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438975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8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1165</Words>
  <Application>WPS 演示</Application>
  <PresentationFormat>Custom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Default Design</vt:lpstr>
      <vt:lpstr>PowerPoint 演示文稿</vt:lpstr>
    </vt:vector>
  </TitlesOfParts>
  <Company>MegaPrint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36x48 Horizontal Poster</dc:title>
  <dc:creator>Ethan Shulda;www.postersession.com</dc:creator>
  <cp:keywords>www.postersession.com</cp:keywords>
  <dc:description>©MegaPrint Inc. 2009-2015</dc:description>
  <cp:category>Research Poster</cp:category>
  <cp:lastModifiedBy>やえざくら</cp:lastModifiedBy>
  <cp:revision>69</cp:revision>
  <cp:lastPrinted>2011-03-08T18:07:00Z</cp:lastPrinted>
  <dcterms:created xsi:type="dcterms:W3CDTF">2008-12-04T00:20:00Z</dcterms:created>
  <dcterms:modified xsi:type="dcterms:W3CDTF">2025-12-03T08:51:01Z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ED45D1D424684558B62D6A13BBBDD08F_12</vt:lpwstr>
  </property>
  <property fmtid="{D5CDD505-2E9C-101B-9397-08002B2CF9AE}" pid="3" name="KSOProductBuildVer">
    <vt:lpwstr>2052-12.1.0.19302</vt:lpwstr>
  </property>
</Properties>
</file>